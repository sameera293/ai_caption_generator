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822960"/>
            <a:ext cx="2926080" cy="2926080"/>
          </a:xfrm>
          <a:prstGeom prst="ellipse">
            <a:avLst/>
          </a:prstGeom>
          <a:solidFill>
            <a:srgbClr val="0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417320"/>
            <a:ext cx="1737360" cy="1737360"/>
          </a:xfrm>
          <a:prstGeom prst="ellipse">
            <a:avLst/>
          </a:prstGeom>
          <a:solidFill>
            <a:srgbClr val="F2A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6217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12244"/>
                </a:solidFill>
                <a:latin typeface="Aptos Display"/>
              </a:defRPr>
            </a:pPr>
            <a:r>
              <a:t>AI Assisted Coding</a:t>
            </a:r>
          </a:p>
          <a:p>
            <a:pPr>
              <a:defRPr sz="1800">
                <a:solidFill>
                  <a:srgbClr val="606E85"/>
                </a:solidFill>
                <a:latin typeface="Aptos"/>
              </a:defRPr>
            </a:pPr>
            <a:r>
              <a:t>Workflow, prompt patterns, and classroom-ready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9260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94E5A"/>
                </a:solidFill>
                <a:latin typeface="Aptos"/>
              </a:defRPr>
            </a:pPr>
            <a:r>
              <a:t>Course deck | instructor-ready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What learners should be able to do by the end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Explain how AI changes the software development workflow.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Write prompts that produce better plans, code, tests, and refactors.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Review AI output critically instead of accepting it blindly.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Use a repeatable loop: ask, inspect, run, verify, refine.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Apply guardrails for security, quality, and maintainability.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28800"/>
            <a:ext cx="4663440" cy="1920240"/>
          </a:xfrm>
          <a:prstGeom prst="roundRect">
            <a:avLst/>
          </a:prstGeom>
          <a:solidFill>
            <a:srgbClr val="FFF9E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Teaching Tip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Position AI as a pair programmer, not an autopilot. Students should stay responsible for decisions and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977639"/>
            <a:ext cx="4663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Best Outcome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Students leave with prompt templates they can reuse in labs, internships, and project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Where AI Fits In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AI helps across the lifecycle, but human judgment anchors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828800" cy="1828800"/>
          </a:xfrm>
          <a:prstGeom prst="roundRect">
            <a:avLst/>
          </a:prstGeom>
          <a:solidFill>
            <a:srgbClr val="094E5A"/>
          </a:solidFill>
          <a:ln>
            <a:solidFill>
              <a:srgbClr val="09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Understand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Clarify requirements, constraints, and edge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240280"/>
            <a:ext cx="1828800" cy="1828800"/>
          </a:xfrm>
          <a:prstGeom prst="roundRect">
            <a:avLst/>
          </a:prstGeom>
          <a:solidFill>
            <a:srgbClr val="0F7A8C"/>
          </a:solidFill>
          <a:ln>
            <a:solidFill>
              <a:srgbClr val="0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Design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Compare approaches, data flow, APIs, and tradeoffs.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240280"/>
            <a:ext cx="1828800" cy="1828800"/>
          </a:xfrm>
          <a:prstGeom prst="roundRect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Build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Draft code, tests, migrations, and docs faster.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240280"/>
            <a:ext cx="1828800" cy="1828800"/>
          </a:xfrm>
          <a:prstGeom prst="roundRect">
            <a:avLst/>
          </a:prstGeom>
          <a:solidFill>
            <a:srgbClr val="4A884A"/>
          </a:solidFill>
          <a:ln>
            <a:solidFill>
              <a:srgbClr val="4A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Spot bugs, simplify logic, and strengthen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240280"/>
            <a:ext cx="1828800" cy="1828800"/>
          </a:xfrm>
          <a:prstGeom prst="roundRect">
            <a:avLst/>
          </a:prstGeom>
          <a:solidFill>
            <a:srgbClr val="715AA3"/>
          </a:solidFill>
          <a:ln>
            <a:solidFill>
              <a:srgbClr val="71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Learn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Explain unfamiliar code and generate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54880"/>
            <a:ext cx="9875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Key Message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The strongest results come from short, iterative prompts with context, constraints, and a verification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A simple repeatable loop for AI-assisted 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874519" cy="2011680"/>
          </a:xfrm>
          <a:prstGeom prst="roundRect">
            <a:avLst/>
          </a:prstGeom>
          <a:solidFill>
            <a:srgbClr val="094E5A"/>
          </a:solidFill>
          <a:ln>
            <a:solidFill>
              <a:srgbClr val="09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1. Define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State the task,</a:t>
            </a:r>
            <a:br/>
            <a:r>
              <a:t>inputs, outputs,</a:t>
            </a:r>
            <a:br/>
            <a:r>
              <a:t>and constraints.</a:t>
            </a:r>
          </a:p>
        </p:txBody>
      </p:sp>
      <p:sp>
        <p:nvSpPr>
          <p:cNvPr id="6" name="Chevron 5"/>
          <p:cNvSpPr/>
          <p:nvPr/>
        </p:nvSpPr>
        <p:spPr>
          <a:xfrm>
            <a:off x="2423160" y="2880360"/>
            <a:ext cx="502920" cy="384048"/>
          </a:xfrm>
          <a:prstGeom prst="chevron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2148840"/>
            <a:ext cx="1874519" cy="2011680"/>
          </a:xfrm>
          <a:prstGeom prst="roundRect">
            <a:avLst/>
          </a:prstGeom>
          <a:solidFill>
            <a:srgbClr val="0F7A8C"/>
          </a:solidFill>
          <a:ln>
            <a:solidFill>
              <a:srgbClr val="0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2. Ask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Request a plan,</a:t>
            </a:r>
            <a:br/>
            <a:r>
              <a:t>patch, test, or</a:t>
            </a:r>
            <a:br/>
            <a:r>
              <a:t>explanation.</a:t>
            </a:r>
          </a:p>
        </p:txBody>
      </p:sp>
      <p:sp>
        <p:nvSpPr>
          <p:cNvPr id="8" name="Chevron 7"/>
          <p:cNvSpPr/>
          <p:nvPr/>
        </p:nvSpPr>
        <p:spPr>
          <a:xfrm>
            <a:off x="4663440" y="2880360"/>
            <a:ext cx="502920" cy="384048"/>
          </a:xfrm>
          <a:prstGeom prst="chevron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83480" y="2148840"/>
            <a:ext cx="1874519" cy="2011680"/>
          </a:xfrm>
          <a:prstGeom prst="roundRect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3. Inspect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Read the output,</a:t>
            </a:r>
            <a:br/>
            <a:r>
              <a:t>check assumptions,</a:t>
            </a:r>
            <a:br/>
            <a:r>
              <a:t>compare options.</a:t>
            </a:r>
          </a:p>
        </p:txBody>
      </p:sp>
      <p:sp>
        <p:nvSpPr>
          <p:cNvPr id="10" name="Chevron 9"/>
          <p:cNvSpPr/>
          <p:nvPr/>
        </p:nvSpPr>
        <p:spPr>
          <a:xfrm>
            <a:off x="6903720" y="2880360"/>
            <a:ext cx="502920" cy="384048"/>
          </a:xfrm>
          <a:prstGeom prst="chevron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1874519" cy="2011680"/>
          </a:xfrm>
          <a:prstGeom prst="roundRect">
            <a:avLst/>
          </a:prstGeom>
          <a:solidFill>
            <a:srgbClr val="4A884A"/>
          </a:solidFill>
          <a:ln>
            <a:solidFill>
              <a:srgbClr val="4A8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4. Execute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Run code, tests,</a:t>
            </a:r>
            <a:br/>
            <a:r>
              <a:t>linters, and sample</a:t>
            </a:r>
            <a:br/>
            <a:r>
              <a:t>cases.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9144000" y="2880360"/>
            <a:ext cx="502920" cy="384048"/>
          </a:xfrm>
          <a:prstGeom prst="chevron">
            <a:avLst/>
          </a:prstGeom>
          <a:solidFill>
            <a:srgbClr val="F2A54C"/>
          </a:solidFill>
          <a:ln>
            <a:solidFill>
              <a:srgbClr val="F2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2148840"/>
            <a:ext cx="1874519" cy="2011680"/>
          </a:xfrm>
          <a:prstGeom prst="roundRect">
            <a:avLst/>
          </a:prstGeom>
          <a:solidFill>
            <a:srgbClr val="715AA3"/>
          </a:solidFill>
          <a:ln>
            <a:solidFill>
              <a:srgbClr val="71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5. Refine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Fix issues and</a:t>
            </a:r>
            <a:br/>
            <a:r>
              <a:t>iterate with sharper</a:t>
            </a:r>
            <a:br/>
            <a:r>
              <a:t>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00600"/>
            <a:ext cx="10058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Instructor Script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Emphasize that prompting is not a single message. It is a feedback loop that gets sharper as evidence comes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Prompt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A reusable structure that improves output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868680"/>
          </a:xfrm>
          <a:prstGeom prst="roundRect">
            <a:avLst/>
          </a:prstGeom>
          <a:solidFill>
            <a:srgbClr val="EBF7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Formula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Role + task + context + constraints + expected output + verification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Role: "Act as a senior backend engineer"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Task: "Add image upload validation"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Context: codebase, stack, existing files, user goal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Constraints: no new dependencies, keep API unchanged, use async/await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Expected output: patch, explanation, tests, commit message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Verification: ask for edge cases, risks, and test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2880360"/>
            <a:ext cx="4389120" cy="1920240"/>
          </a:xfrm>
          <a:prstGeom prst="roundRect">
            <a:avLst/>
          </a:prstGeom>
          <a:solidFill>
            <a:srgbClr val="FFF9E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Rule of Thumb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If the answer is vague, the prompt was probably vague. Add specifics before asking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Prompt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Use task-specific prompts instead of one generic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Planning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47672"/>
            <a:ext cx="5394960" cy="128016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Analyze this feature request and propose 2 implementation options.</a:t>
            </a:r>
            <a:br/>
            <a:r>
              <a:t>Include tradeoffs, files likely to change, and a recommended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Coding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47672"/>
            <a:ext cx="5303520" cy="128016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Update the Express route in server.js to validate image type and size.</a:t>
            </a:r>
            <a:br/>
            <a:r>
              <a:t>Do not change the response schema. Show the exact 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Testing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59352"/>
            <a:ext cx="5394960" cy="132588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Write test cases for success, unsupported file type, oversized upload,</a:t>
            </a:r>
            <a:br/>
            <a:r>
              <a:t>and malformed request body. Explain what each test proves.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Review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59352"/>
            <a:ext cx="5303520" cy="132588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Review this code for bugs, security risks, and missing tests.</a:t>
            </a:r>
            <a:br/>
            <a:r>
              <a:t>Prioritize findings by severity and reference the relevant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From Weak Prompt to Strong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Teach students how to add the missing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143000"/>
          </a:xfrm>
          <a:prstGeom prst="roundRect">
            <a:avLst/>
          </a:prstGeom>
          <a:solidFill>
            <a:srgbClr val="FFF0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Weak Prompt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Create a login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Why It Fails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It does not say which framework, what fields are needed, how errors work, what style to follow, or what output format is expected.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3108960"/>
          </a:xfrm>
          <a:prstGeom prst="roundRect">
            <a:avLst/>
          </a:prstGeom>
          <a:solidFill>
            <a:srgbClr val="EDF8E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Strong Prompt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Build a responsive React login page using our existing design system. Include email and password fields, inline validation, a loading state, and an error banner. Return the JSX and CSS changes only. Keep the current API contract unchanged.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Verification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What students should do before trusting AI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Does the code actually run in the target environment?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Are imports, dependencies, and file paths correct?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Did the model invent an API, config, or library behavior?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Are edge cases, validation, and error handling covered?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Do tests prove the expected behavior, not just happy paths?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Can the code be simplified before merging?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920240"/>
            <a:ext cx="4572000" cy="1737360"/>
          </a:xfrm>
          <a:prstGeom prst="roundRect">
            <a:avLst/>
          </a:prstGeom>
          <a:solidFill>
            <a:srgbClr val="FFF9E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Mindset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AI can accelerate delivery, but verification protects quality. Fast output is not the same as correct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402336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Good Practice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Ask the model to list assumptions and likely risks. That often reveals hidden problems 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Important guardrails for classroom and workplace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Do not paste secrets, private keys, or confidential source code into public tools.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Review licensing and usage policies before copying generated code into production.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Treat security-sensitive code as high scrutiny: auth, payments, data access, and encryption.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Keep a human in the loop for architecture decisions and final approval.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Document what AI helped generate when your process requires traceability.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57400"/>
            <a:ext cx="4480560" cy="1874519"/>
          </a:xfrm>
          <a:prstGeom prst="roundRect">
            <a:avLst/>
          </a:prstGeom>
          <a:solidFill>
            <a:srgbClr val="EBF7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Classroom Framing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Use AI to learn faster and think better, not to skip understanding. Students should be able to explain any code they submit.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Hands-On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A lab structure for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Task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Students choose a small feature, bug fix, or refactor from a sample codebase.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Prompt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They write a planning prompt first, then a coding prompt with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94E5A"/>
                </a:solidFill>
                <a:latin typeface="Aptos Display"/>
              </a:defRPr>
            </a:pPr>
            <a:r>
              <a:t>Verify</a:t>
            </a:r>
          </a:p>
          <a:p>
            <a:pPr>
              <a:spcBef>
                <a:spcPts val="800"/>
              </a:spcBef>
              <a:defRPr sz="1300">
                <a:solidFill>
                  <a:srgbClr val="262F3F"/>
                </a:solidFill>
                <a:latin typeface="Aptos"/>
              </a:defRPr>
            </a:pPr>
            <a:r>
              <a:t>They run the code, test assumptions, and document one improvement after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F3F"/>
                </a:solidFill>
                <a:latin typeface="Aptos"/>
              </a:defRPr>
            </a:pPr>
            <a:r>
              <a:t>Deliverables: prompts used, generated output, issues found, final corrected version.</a:t>
            </a:r>
          </a:p>
          <a:p>
            <a:pPr>
              <a:spcAft>
                <a:spcPts val="800"/>
              </a:spcAft>
              <a:defRPr sz="1800">
                <a:solidFill>
                  <a:srgbClr val="262F3F"/>
                </a:solidFill>
                <a:latin typeface="Aptos"/>
              </a:defRPr>
            </a:pPr>
            <a:r>
              <a:t>Discussion: What did AI do well? Where did it need correction?</a:t>
            </a:r>
          </a:p>
          <a:p>
            <a:pPr>
              <a:spcAft>
                <a:spcPts val="800"/>
              </a:spcAft>
              <a:defRPr sz="1800">
                <a:solidFill>
                  <a:srgbClr val="262F3F"/>
                </a:solidFill>
                <a:latin typeface="Aptos"/>
              </a:defRPr>
            </a:pPr>
            <a:r>
              <a:t>Reflection: Which prompt detail most improved the result?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12244"/>
                </a:solidFill>
                <a:latin typeface="Aptos Display"/>
              </a:rPr>
              <a:t>Prompt Library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06E85"/>
                </a:solidFill>
                <a:latin typeface="Aptos"/>
              </a:rPr>
              <a:t>Reusable prompts they can adapt across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Explain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56231"/>
            <a:ext cx="3657600" cy="141732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Explain what this file does, identify the main control flow,</a:t>
            </a:r>
            <a:br/>
            <a:r>
              <a:t>and describe the 3 most important functions in plain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08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Refactor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56231"/>
            <a:ext cx="3657600" cy="141732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Refactor this function for readability without changing behavior.</a:t>
            </a:r>
            <a:br/>
            <a:r>
              <a:t>List any assumptions and suggest tests to confirm no regression.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Debugging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56231"/>
            <a:ext cx="3566160" cy="141732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Given this error message and stack trace, suggest the most likely causes,</a:t>
            </a:r>
            <a:br/>
            <a:r>
              <a:t>a step-by-step debugging path, and the minimal fix to try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33672"/>
            <a:ext cx="5303520" cy="123444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Write concise README steps for setup, run, and test.</a:t>
            </a:r>
            <a:br/>
            <a:r>
              <a:t>Mention prerequisites and common troubleshooting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86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4E5A"/>
                </a:solidFill>
                <a:latin typeface="Aptos Display"/>
              </a:defRPr>
            </a:pPr>
            <a:r>
              <a:t>Code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33672"/>
            <a:ext cx="5303520" cy="1234440"/>
          </a:xfrm>
          <a:prstGeom prst="roundRect">
            <a:avLst/>
          </a:prstGeom>
          <a:solidFill>
            <a:srgbClr val="1F242E"/>
          </a:solidFill>
          <a:ln>
            <a:solidFill>
              <a:srgbClr val="1F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E3E9EF"/>
                </a:solidFill>
                <a:latin typeface="Consolas"/>
              </a:defRPr>
            </a:pPr>
            <a:r>
              <a:t>Review this pull request for correctness, edge cases, and maintainability.</a:t>
            </a:r>
            <a:br/>
            <a:r>
              <a:t>Return only findings ordered by severity.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9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2244"/>
                </a:solidFill>
                <a:latin typeface="Aptos Display"/>
              </a:defRPr>
            </a:pPr>
            <a:r>
              <a:t>Closing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AI-assisted coding works best as an iterative collaboration.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Prompt quality improves with context, constraints, and clear expected output.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Verification is essential: run, test, review, and refine.</a:t>
            </a:r>
          </a:p>
          <a:p>
            <a:pPr>
              <a:spcAft>
                <a:spcPts val="800"/>
              </a:spcAft>
              <a:defRPr sz="2000">
                <a:solidFill>
                  <a:srgbClr val="262F3F"/>
                </a:solidFill>
                <a:latin typeface="Aptos"/>
              </a:defRPr>
            </a:pPr>
            <a:r>
              <a:t>Students gain the most when they can explain and defend the final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737360"/>
            <a:ext cx="3474720" cy="2560320"/>
          </a:xfrm>
          <a:prstGeom prst="roundRect">
            <a:avLst/>
          </a:prstGeom>
          <a:solidFill>
            <a:srgbClr val="0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Best practice:</a:t>
            </a:r>
          </a:p>
          <a:p>
            <a:pPr algn="ctr"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Ask better.</a:t>
            </a:r>
            <a:br/>
            <a:r>
              <a:t>Check harder.</a:t>
            </a:r>
            <a:br/>
            <a:r>
              <a:t>Ship smarter.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